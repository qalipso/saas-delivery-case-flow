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Months</c:v>
                </c:pt>
              </c:strCache>
            </c:strRef>
          </c:tx>
          <c:spPr>
            <a:solidFill>
              <a:srgbClr val="1636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B22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36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9AA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Estimated</c:v>
                  </c:pt>
                  <c:pt idx="1">
                    <c:v>Delivered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600" u="none">
                  <a:solidFill>
                    <a:srgbClr val="1B22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640080"/>
            <a:ext cx="2560320" cy="2560320"/>
          </a:xfrm>
          <a:prstGeom prst="roundRect">
            <a:avLst>
              <a:gd name="adj" fmla="val 8929"/>
            </a:avLst>
          </a:prstGeom>
          <a:solidFill>
            <a:srgbClr val="1636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377440" cy="2377440"/>
          </a:xfrm>
          <a:prstGeom prst="roundRect">
            <a:avLst>
              <a:gd name="adj" fmla="val 9615"/>
            </a:avLst>
          </a:prstGeom>
          <a:solidFill>
            <a:srgbClr val="1C9AA8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5394960"/>
            <a:ext cx="2194560" cy="2194560"/>
          </a:xfrm>
          <a:prstGeom prst="roundRect">
            <a:avLst>
              <a:gd name="adj" fmla="val 10417"/>
            </a:avLst>
          </a:prstGeom>
          <a:solidFill>
            <a:srgbClr val="1C9AA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CASE STUDY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Underwriting &amp; Insurance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Platform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→ Senior Team Lead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zero · legacy migration · ownership moved to a child company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544068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1636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5440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Wonderland Inc. (anonymized)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54406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6365C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54406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· Underwriting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54406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6365C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5440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$100M+ risk portfolio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57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7048" y="987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was, and what I owned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build a B2B underwriting portal from zero — migrating a legacy monolith to a modern, container-based platform. I directly owned the configuration team and delivery flow while coordinating up to ~30 cross-functional contributors and the client.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2583180" cy="2194560"/>
          </a:xfrm>
          <a:prstGeom prst="roundRect">
            <a:avLst>
              <a:gd name="adj" fmla="val 3750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743200"/>
            <a:ext cx="2583180" cy="109728"/>
          </a:xfrm>
          <a:prstGeom prst="rect">
            <a:avLst/>
          </a:prstGeom>
          <a:solidFill>
            <a:srgbClr val="1C9AA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08960"/>
            <a:ext cx="25831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→ 10+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2308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team size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06140" y="2743200"/>
            <a:ext cx="2583180" cy="2194560"/>
          </a:xfrm>
          <a:prstGeom prst="roundRect">
            <a:avLst>
              <a:gd name="adj" fmla="val 3750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6140" y="2743200"/>
            <a:ext cx="2583180" cy="109728"/>
          </a:xfrm>
          <a:prstGeom prst="rect">
            <a:avLst/>
          </a:prstGeom>
          <a:solidFill>
            <a:srgbClr val="16365C"/>
          </a:solidFill>
          <a:ln/>
        </p:spPr>
      </p:sp>
      <p:sp>
        <p:nvSpPr>
          <p:cNvPr id="12" name="Text 10"/>
          <p:cNvSpPr/>
          <p:nvPr/>
        </p:nvSpPr>
        <p:spPr>
          <a:xfrm>
            <a:off x="3406140" y="3108960"/>
            <a:ext cx="25831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3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3543300" y="4114800"/>
            <a:ext cx="2308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contributors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2583180" cy="2194560"/>
          </a:xfrm>
          <a:prstGeom prst="roundRect">
            <a:avLst>
              <a:gd name="adj" fmla="val 3750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743200"/>
            <a:ext cx="2583180" cy="109728"/>
          </a:xfrm>
          <a:prstGeom prst="rect">
            <a:avLst/>
          </a:prstGeom>
          <a:solidFill>
            <a:srgbClr val="DC8A2E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108960"/>
            <a:ext cx="25831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 mo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309360" y="4114800"/>
            <a:ext cx="2308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 portals vs ~6 est.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938260" y="2743200"/>
            <a:ext cx="2583180" cy="2194560"/>
          </a:xfrm>
          <a:prstGeom prst="roundRect">
            <a:avLst>
              <a:gd name="adj" fmla="val 3750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38260" y="2743200"/>
            <a:ext cx="2583180" cy="109728"/>
          </a:xfrm>
          <a:prstGeom prst="rect">
            <a:avLst/>
          </a:prstGeom>
          <a:solidFill>
            <a:srgbClr val="1C9AA8"/>
          </a:solidFill>
          <a:ln/>
        </p:spPr>
      </p:sp>
      <p:sp>
        <p:nvSpPr>
          <p:cNvPr id="20" name="Text 18"/>
          <p:cNvSpPr/>
          <p:nvPr/>
        </p:nvSpPr>
        <p:spPr>
          <a:xfrm>
            <a:off x="8938260" y="3108960"/>
            <a:ext cx="25831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9075420" y="4114800"/>
            <a:ext cx="23088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interviewed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a three-portal request scoped at ~6 months shipped to production in ~4 months by restructuring it as a parent/child parallel build.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57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&amp;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7048" y="987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a legacy underwriting system, re-architect, and hand it to a child company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5564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4F2F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55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workflow   </a:t>
            </a:r>
            <a:pPr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the insurance-record lifecycle end to end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441448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59689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4F2F3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441448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  </a:t>
            </a:r>
            <a:pPr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print policy and supporting documents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282696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4381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4F2F3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438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82696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reports   </a:t>
            </a:r>
            <a:pPr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bank billing and reporting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123944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2793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4F2F3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123944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   </a:t>
            </a:r>
            <a:pPr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data securely under compliance constraints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4965192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5120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4F2F3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" y="5120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4965192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deploy   </a:t>
            </a:r>
            <a:pPr indent="0" marL="0">
              <a:buNone/>
            </a:pPr>
            <a:r>
              <a:rPr lang="en-US" sz="13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Repeatable, predictable deployment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72400" y="1600200"/>
            <a:ext cx="3749040" cy="4434840"/>
          </a:xfrm>
          <a:prstGeom prst="roundRect">
            <a:avLst>
              <a:gd name="adj" fmla="val 2195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22860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to migrate &amp; re-platform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insurance data, secure storage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transfer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moving to a child company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57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scope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7048" y="987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precise about what I ran, coordinated, and shaped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383280" cy="4160520"/>
          </a:xfrm>
          <a:prstGeom prst="roundRect">
            <a:avLst>
              <a:gd name="adj" fmla="val 2432"/>
            </a:avLst>
          </a:prstGeom>
          <a:solidFill>
            <a:srgbClr val="1C9AA8"/>
          </a:solidFill>
          <a:ln/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28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ownership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2697480"/>
            <a:ext cx="292608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88036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team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flow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quality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383280" cy="4160520"/>
          </a:xfrm>
          <a:prstGeom prst="roundRect">
            <a:avLst>
              <a:gd name="adj" fmla="val 2432"/>
            </a:avLst>
          </a:prstGeom>
          <a:solidFill>
            <a:srgbClr val="16365C"/>
          </a:solidFill>
          <a:ln/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828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Cross-functional coordination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617720" y="2697480"/>
            <a:ext cx="292608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88036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stakeholders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383280" cy="4160520"/>
          </a:xfrm>
          <a:prstGeom prst="roundRect">
            <a:avLst>
              <a:gd name="adj" fmla="val 2432"/>
            </a:avLst>
          </a:prstGeom>
          <a:solidFill>
            <a:srgbClr val="EFF4F9"/>
          </a:solidFill>
          <a:ln w="19050">
            <a:solidFill>
              <a:srgbClr val="DC8A2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66760" y="18288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Influence, not ownership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366760" y="2697480"/>
            <a:ext cx="2926080" cy="0"/>
          </a:xfrm>
          <a:prstGeom prst="line">
            <a:avLst/>
          </a:prstGeom>
          <a:noFill/>
          <a:ln w="12700">
            <a:solidFill>
              <a:srgbClr val="D7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88036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timeline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planning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product decisions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sits under influence, not ownership — I advocated and shaped the calls; they weren't solely mine.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57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7048" y="987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stack, and what 'configuration' actually meant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57784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TOOLING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697480" y="2286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/ JavaScript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2816352"/>
            <a:ext cx="5029200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7121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97480" y="28712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· REST APIs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401568"/>
            <a:ext cx="5029200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564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97480" y="34564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Azure-managed data services · SQL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3986784"/>
            <a:ext cx="5029200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0416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697480" y="40416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— Boards · Repos / PRs · Pipelines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4572000"/>
            <a:ext cx="5029200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6268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697480" y="46268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deployment &amp; security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400" y="5157216"/>
            <a:ext cx="5029200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212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docs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697480" y="5212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config tooling · Wiki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1600200"/>
            <a:ext cx="5120640" cy="4434840"/>
          </a:xfrm>
          <a:prstGeom prst="roundRect">
            <a:avLst>
              <a:gd name="adj" fmla="val 1856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“CONFIGURATION” COVERED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2212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 in its own right — not setup after the fact.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26974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2697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281160" y="26974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281160" y="26974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rules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675120" y="3300984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33009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281160" y="3300984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9281160" y="33009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templates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675120" y="390448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39044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281160" y="390448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9281160" y="39044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sets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675120" y="450799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45079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configs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281160" y="450799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9281160" y="45079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675120" y="5111496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51114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Billing/reporting maps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281160" y="5111496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9281160" y="51114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thresholds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57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C4 container 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7048" y="987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security service governs access across every environment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828800" cy="566928"/>
          </a:xfrm>
          <a:prstGeom prst="roundRect">
            <a:avLst>
              <a:gd name="adj" fmla="val 48387"/>
            </a:avLst>
          </a:prstGeom>
          <a:solidFill>
            <a:srgbClr val="1636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user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51760" y="1554480"/>
            <a:ext cx="1828800" cy="566928"/>
          </a:xfrm>
          <a:prstGeom prst="roundRect">
            <a:avLst>
              <a:gd name="adj" fmla="val 48387"/>
            </a:avLst>
          </a:prstGeom>
          <a:solidFill>
            <a:srgbClr val="16365C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554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admin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1828800" cy="566928"/>
          </a:xfrm>
          <a:prstGeom prst="roundRect">
            <a:avLst>
              <a:gd name="adj" fmla="val 48387"/>
            </a:avLst>
          </a:prstGeom>
          <a:solidFill>
            <a:srgbClr val="16365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5544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7772400" cy="3657600"/>
          </a:xfrm>
          <a:prstGeom prst="roundRect">
            <a:avLst>
              <a:gd name="adj" fmla="val 2250"/>
            </a:avLst>
          </a:prstGeom>
          <a:solidFill>
            <a:srgbClr val="F7FAFD"/>
          </a:solidFill>
          <a:ln w="15875">
            <a:solidFill>
              <a:srgbClr val="1C9A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4688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Portal Platform · runs on Kubernetes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21945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24128" y="312724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352958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[TypeScript]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926080"/>
            <a:ext cx="21945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47288" y="312724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47288" y="352958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[C# / .NET]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2926080"/>
            <a:ext cx="21945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70448" y="312724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70448" y="352958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[.NET]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343400"/>
            <a:ext cx="21945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24128" y="454456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494690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[.NET]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4343400"/>
            <a:ext cx="21945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47288" y="454456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47288" y="494690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[.NET]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4343400"/>
            <a:ext cx="219456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870448" y="4544568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70448" y="4946904"/>
            <a:ext cx="1975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[Azure SQL / storage]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0" y="2377440"/>
            <a:ext cx="2834640" cy="3657600"/>
          </a:xfrm>
          <a:prstGeom prst="roundRect">
            <a:avLst>
              <a:gd name="adj" fmla="val 2903"/>
            </a:avLst>
          </a:prstGeom>
          <a:solidFill>
            <a:srgbClr val="FBEAED"/>
          </a:solidFill>
          <a:ln w="22225">
            <a:solidFill>
              <a:srgbClr val="C8455B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869680" y="25420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84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0" y="2880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7A13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&amp; Security service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869680" y="338328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8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permissions · security settings</a:t>
            </a:r>
            <a:endParaRPr lang="en-US" sz="12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8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Multi-environment, with its own security schema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8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request runs an authorization check here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class: influence (advocated during the define phase). Payoff: manage access across environments without touching the full database — smaller blast radius.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57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process · Ideate → Deploy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7048" y="987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flow I owned end to end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993392" cy="2286000"/>
          </a:xfrm>
          <a:prstGeom prst="roundRect">
            <a:avLst>
              <a:gd name="adj" fmla="val 4128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62456" y="2121408"/>
            <a:ext cx="548640" cy="54864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7" name="Text 5"/>
          <p:cNvSpPr/>
          <p:nvPr/>
        </p:nvSpPr>
        <p:spPr>
          <a:xfrm>
            <a:off x="1362456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</a:t>
            </a:r>
            <a:endParaRPr lang="en-US" sz="15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68096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· estimates · budget · resources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251460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944368" y="1920240"/>
            <a:ext cx="1993392" cy="2286000"/>
          </a:xfrm>
          <a:prstGeom prst="roundRect">
            <a:avLst>
              <a:gd name="adj" fmla="val 4128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66744" y="2121408"/>
            <a:ext cx="548640" cy="54864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13" name="Text 11"/>
          <p:cNvSpPr/>
          <p:nvPr/>
        </p:nvSpPr>
        <p:spPr>
          <a:xfrm>
            <a:off x="3666744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35808" y="27889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5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072384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ramp: BA+Architect → DevOps → Dev → QA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818888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248656" y="1920240"/>
            <a:ext cx="1993392" cy="2286000"/>
          </a:xfrm>
          <a:prstGeom prst="roundRect">
            <a:avLst>
              <a:gd name="adj" fmla="val 4128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71032" y="2121408"/>
            <a:ext cx="548640" cy="54864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19" name="Text 17"/>
          <p:cNvSpPr/>
          <p:nvPr/>
        </p:nvSpPr>
        <p:spPr>
          <a:xfrm>
            <a:off x="5971032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0096" y="27889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Backlog &amp;</a:t>
            </a:r>
            <a:endParaRPr lang="en-US" sz="15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planning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376672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sprints + dependencies mapped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123176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7552944" y="1920240"/>
            <a:ext cx="1993392" cy="2286000"/>
          </a:xfrm>
          <a:prstGeom prst="roundRect">
            <a:avLst>
              <a:gd name="adj" fmla="val 4128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75320" y="2121408"/>
            <a:ext cx="548640" cy="548640"/>
          </a:xfrm>
          <a:prstGeom prst="ellipse">
            <a:avLst/>
          </a:prstGeom>
          <a:solidFill>
            <a:srgbClr val="1C9AA8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44384" y="27889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loop</a:t>
            </a:r>
            <a:endParaRPr lang="en-US" sz="15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2–4 weeks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68096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→ In Progress → QA → UAT → Done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9427464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857232" y="1920240"/>
            <a:ext cx="1993392" cy="2286000"/>
          </a:xfrm>
          <a:prstGeom prst="roundRect">
            <a:avLst>
              <a:gd name="adj" fmla="val 4128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579608" y="2121408"/>
            <a:ext cx="548640" cy="5486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1" name="Text 29"/>
          <p:cNvSpPr/>
          <p:nvPr/>
        </p:nvSpPr>
        <p:spPr>
          <a:xfrm>
            <a:off x="10579608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7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948672" y="278892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985248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· smoke test · confirmation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40080" y="466344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F7FAFD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828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5212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Core: schemas · workflow · attachments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456432" y="5212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657600" y="5212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Key features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199632" y="5212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400800" y="5212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Bugs &amp; showstoppers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942832" y="521208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44000" y="5212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Cosmetic UX/UI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the risky, dependency-heavy work; let low-risk polish be the thing that can safely slip.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57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flow · risk-record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7048" y="987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submission to a bound policy, with role-based branching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12064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20116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139696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20116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64992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767328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22192" y="20116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92624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394960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9824" y="20116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0256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022592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DC8A2E"/>
          </a:solidFill>
          <a:ln w="12700">
            <a:solidFill>
              <a:srgbClr val="DC8A2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77456" y="20116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47888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650224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05088" y="20116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referred)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87552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277856" y="2011680"/>
            <a:ext cx="1371600" cy="1280160"/>
          </a:xfrm>
          <a:prstGeom prst="roundRect">
            <a:avLst>
              <a:gd name="adj" fmla="val 6429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332720" y="201168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+</a:t>
            </a:r>
            <a:endParaRPr lang="en-US" sz="1200" dirty="0"/>
          </a:p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0F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+ billing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loops on “request more info” · decline closes the record early.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406908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224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BRANCHING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572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user — submit &amp; view own records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admin — approve referrals &amp; high-value risks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— cross-portal config, security, environments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406908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83680" y="4224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45537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Time-to-first-bound-policy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583680" y="50292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emits an event (risk_submitted → policy_bound) laddering up to activation &amp; adoption — incl. % of config changes self-served by admins, no dev ticket.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57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7048" y="987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where exact figures are confidential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12064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PORTALS — ESTIMATED vs DELIVERED</a:t>
            </a:r>
            <a:endParaRPr lang="en-US" sz="12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822960" y="228600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64592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09360" y="1645920"/>
            <a:ext cx="91440" cy="777240"/>
          </a:xfrm>
          <a:prstGeom prst="rect">
            <a:avLst/>
          </a:prstGeom>
          <a:solidFill>
            <a:srgbClr val="1C9AA8"/>
          </a:solidFill>
          <a:ln/>
        </p:spPr>
      </p:sp>
      <p:sp>
        <p:nvSpPr>
          <p:cNvPr id="10" name="Text 7"/>
          <p:cNvSpPr/>
          <p:nvPr/>
        </p:nvSpPr>
        <p:spPr>
          <a:xfrm>
            <a:off x="6537960" y="16459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predictability ↑
</a:t>
            </a:r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+ branch-lock discipline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09360" y="256032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2560320"/>
            <a:ext cx="91440" cy="777240"/>
          </a:xfrm>
          <a:prstGeom prst="rect">
            <a:avLst/>
          </a:prstGeom>
          <a:solidFill>
            <a:srgbClr val="1C9AA8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2560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chaos ↓
</a:t>
            </a:r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3 portals into one shared lineage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309360" y="3474720"/>
            <a:ext cx="5212080" cy="777240"/>
          </a:xfrm>
          <a:prstGeom prst="roundRect">
            <a:avLst>
              <a:gd name="adj" fmla="val 10588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3474720"/>
            <a:ext cx="91440" cy="777240"/>
          </a:xfrm>
          <a:prstGeom prst="rect">
            <a:avLst/>
          </a:prstGeom>
          <a:solidFill>
            <a:srgbClr val="1C9AA8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34747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onboarding Qs ↓
</a:t>
            </a:r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+ interactive documentation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309360" y="4434840"/>
            <a:ext cx="5212080" cy="1508760"/>
          </a:xfrm>
          <a:prstGeom prst="roundRect">
            <a:avLst>
              <a:gd name="adj" fmla="val 5455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37960" y="443484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MATTERED MOST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the client and management could both predict — and a team that absorbed scope changes without thrash.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57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 alignment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7048" y="987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three competing forces in balance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636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hardest part was not the technical complexity — it was managing three competing forces at once.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3832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DC8A2E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86000"/>
            <a:ext cx="3383280" cy="109728"/>
          </a:xfrm>
          <a:prstGeom prst="rect">
            <a:avLst/>
          </a:prstGeom>
          <a:solidFill>
            <a:srgbClr val="DC8A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C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changes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&amp; shifts requirements mid-cycle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33832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1636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2286000"/>
            <a:ext cx="3383280" cy="109728"/>
          </a:xfrm>
          <a:prstGeom prst="rect">
            <a:avLst/>
          </a:prstGeom>
          <a:solidFill>
            <a:srgbClr val="16365C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3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pressure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3520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estimates; needs proof of progress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286000"/>
            <a:ext cx="33832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1C9AA8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2286000"/>
            <a:ext cx="3383280" cy="109728"/>
          </a:xfrm>
          <a:prstGeom prst="rect">
            <a:avLst/>
          </a:prstGeom>
          <a:solidFill>
            <a:srgbClr val="1C9AA8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TEAM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28803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Stable requirements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66760" y="35204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plan, fewer calls, fewer mid-cycle changes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0881360" cy="1188720"/>
          </a:xfrm>
          <a:prstGeom prst="roundRect">
            <a:avLst>
              <a:gd name="adj" fmla="val 6923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19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PRINCIPLE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230368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client ideas into options with dependencies and safety-margin estimates. Lock scope on client + management approval. Team runs ahead → pull items in; sprint overloaded → push to next. The end-of-sprint demo is management's recurring proof of progress.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9A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508760" y="457200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&amp; cadence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527048" y="98755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team was built and how it ran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657600" cy="4297680"/>
          </a:xfrm>
          <a:prstGeom prst="roundRect">
            <a:avLst>
              <a:gd name="adj" fmla="val 225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9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F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interviewed · multinational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HR interview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3493008"/>
            <a:ext cx="3108960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56616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Technical — cognitive, reasoning, language, quiz, adaptive task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4453128"/>
            <a:ext cx="3108960" cy="0"/>
          </a:xfrm>
          <a:prstGeom prst="line">
            <a:avLst/>
          </a:prstGeom>
          <a:noFill/>
          <a:ln w="9525">
            <a:solidFill>
              <a:srgbClr val="D7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526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Candidate review &amp; calibration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0" y="1645920"/>
            <a:ext cx="3200400" cy="4297680"/>
          </a:xfrm>
          <a:prstGeom prst="roundRect">
            <a:avLst>
              <a:gd name="adj" fmla="val 2571"/>
            </a:avLst>
          </a:prstGeom>
          <a:solidFill>
            <a:srgbClr val="EFF4F9"/>
          </a:solidFill>
          <a:ln w="12700">
            <a:solidFill>
              <a:srgbClr val="D7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C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docs &amp; Wiki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matrix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AI-built interactive guide (sectioned, icon-based) for self-serve ramp</a:t>
            </a:r>
            <a:endParaRPr lang="en-US" sz="13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350" b="1" dirty="0">
                <a:solidFill>
                  <a:srgbClr val="1B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first PR in week one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0" y="1645920"/>
            <a:ext cx="3474720" cy="4297680"/>
          </a:xfrm>
          <a:prstGeom prst="roundRect">
            <a:avLst>
              <a:gd name="adj" fmla="val 2368"/>
            </a:avLst>
          </a:prstGeom>
          <a:solidFill>
            <a:srgbClr val="0F2742"/>
          </a:solidFill>
          <a:ln/>
          <a:effectLst>
            <a:outerShdw sx="100000" sy="100000" kx="0" ky="0" algn="bl" rotWithShape="0" blurRad="114300" dist="38100" dir="8100000">
              <a:srgbClr val="0B1B3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210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CADENCE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2286000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feedback than 4-week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21040" y="2999232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Mid-sprint refinement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planning short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21040" y="3712464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daily + 15-min blocker call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meetings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21040" y="442569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End-of-sprint demo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progress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21040" y="5138928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 every sprint
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addition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548640"/>
            <a:ext cx="2377440" cy="2377440"/>
          </a:xfrm>
          <a:prstGeom prst="roundRect">
            <a:avLst>
              <a:gd name="adj" fmla="val 9615"/>
            </a:avLst>
          </a:prstGeom>
          <a:solidFill>
            <a:srgbClr val="16365C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5212080"/>
            <a:ext cx="2194560" cy="2194560"/>
          </a:xfrm>
          <a:prstGeom prst="roundRect">
            <a:avLst>
              <a:gd name="adj" fmla="val 10417"/>
            </a:avLst>
          </a:prstGeom>
          <a:solidFill>
            <a:srgbClr val="1C9AA8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Spotting structural overlap between “separate” requests early — and consolidating the conversation around shared components — beat running them as independent tracks.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single call turned ~6 months of sequential work into ~4 months of parallel delivery — and it was a leadership decision, not just a technical one.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212080"/>
            <a:ext cx="3657600" cy="0"/>
          </a:xfrm>
          <a:prstGeom prst="line">
            <a:avLst/>
          </a:prstGeom>
          <a:noFill/>
          <a:ln w="25400">
            <a:solidFill>
              <a:srgbClr val="1C9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C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→ Senior Team Lead  ·  B2B Underwriting Portal Platform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Case Study — Underwriting &amp; Insurance Portal Platform</dc:title>
  <dc:subject>PptxGenJS Presentation</dc:subject>
  <dc:creator>Eduard</dc:creator>
  <cp:lastModifiedBy>Eduard</cp:lastModifiedBy>
  <cp:revision>1</cp:revision>
  <dcterms:created xsi:type="dcterms:W3CDTF">2026-05-31T23:50:52Z</dcterms:created>
  <dcterms:modified xsi:type="dcterms:W3CDTF">2026-05-31T23:50:52Z</dcterms:modified>
</cp:coreProperties>
</file>